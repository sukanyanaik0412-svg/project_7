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8"/>
  </p:notesMasterIdLst>
  <p:handoutMasterIdLst>
    <p:handoutMasterId r:id="rId19"/>
  </p:handoutMasterIdLst>
  <p:sldIdLst>
    <p:sldId id="312" r:id="rId5"/>
    <p:sldId id="304" r:id="rId6"/>
    <p:sldId id="307" r:id="rId7"/>
    <p:sldId id="281" r:id="rId8"/>
    <p:sldId id="282" r:id="rId9"/>
    <p:sldId id="314" r:id="rId10"/>
    <p:sldId id="315" r:id="rId11"/>
    <p:sldId id="317" r:id="rId12"/>
    <p:sldId id="318" r:id="rId13"/>
    <p:sldId id="319" r:id="rId14"/>
    <p:sldId id="321" r:id="rId15"/>
    <p:sldId id="322" r:id="rId16"/>
    <p:sldId id="297" r:id="rId17"/>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70" d="100"/>
          <a:sy n="70" d="100"/>
        </p:scale>
        <p:origin x="536" y="5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3589"/>
            <a:ext cx="6392421" cy="3831221"/>
          </a:xfrm>
        </p:spPr>
        <p:txBody>
          <a:bodyPr anchor="ctr"/>
          <a:lstStyle/>
          <a:p>
            <a:r>
              <a:rPr lang="en-IN" dirty="0"/>
              <a:t>Disaster Tweet Classification using Classical NLP</a:t>
            </a:r>
          </a:p>
        </p:txBody>
      </p:sp>
      <p:sp>
        <p:nvSpPr>
          <p:cNvPr id="3" name="TextBox 2">
            <a:extLst>
              <a:ext uri="{FF2B5EF4-FFF2-40B4-BE49-F238E27FC236}">
                <a16:creationId xmlns:a16="http://schemas.microsoft.com/office/drawing/2014/main" id="{D35EACB6-07B1-E4FA-59BB-5276C3A7241D}"/>
              </a:ext>
            </a:extLst>
          </p:cNvPr>
          <p:cNvSpPr txBox="1"/>
          <p:nvPr/>
        </p:nvSpPr>
        <p:spPr>
          <a:xfrm>
            <a:off x="4820412" y="4592074"/>
            <a:ext cx="2551176" cy="369332"/>
          </a:xfrm>
          <a:prstGeom prst="rect">
            <a:avLst/>
          </a:prstGeom>
          <a:noFill/>
        </p:spPr>
        <p:txBody>
          <a:bodyPr wrap="square" rtlCol="0">
            <a:spAutoFit/>
          </a:bodyPr>
          <a:lstStyle/>
          <a:p>
            <a:r>
              <a:rPr lang="en-US" b="1" dirty="0">
                <a:solidFill>
                  <a:schemeClr val="accent6">
                    <a:lumMod val="75000"/>
                  </a:schemeClr>
                </a:solidFill>
              </a:rPr>
              <a:t>Author: </a:t>
            </a:r>
            <a:r>
              <a:rPr lang="en-US" dirty="0">
                <a:solidFill>
                  <a:schemeClr val="accent6">
                    <a:lumMod val="75000"/>
                  </a:schemeClr>
                </a:solidFill>
              </a:rPr>
              <a:t>Sukanya Naik</a:t>
            </a:r>
            <a:endParaRPr lang="en-IN" dirty="0">
              <a:solidFill>
                <a:schemeClr val="accent6">
                  <a:lumMod val="75000"/>
                </a:schemeClr>
              </a:solidFill>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402336" y="235743"/>
            <a:ext cx="6583680" cy="5415249"/>
          </a:xfrm>
        </p:spPr>
        <p:txBody>
          <a:bodyPr>
            <a:noAutofit/>
          </a:bodyPr>
          <a:lstStyle/>
          <a:p>
            <a:r>
              <a:rPr lang="en-IN" sz="1600" b="1" dirty="0"/>
              <a:t>📌 </a:t>
            </a:r>
            <a:r>
              <a:rPr lang="en-IN" sz="1800" b="1" dirty="0"/>
              <a:t>Project Overview</a:t>
            </a:r>
          </a:p>
          <a:p>
            <a:r>
              <a:rPr lang="en-IN" sz="1600" dirty="0"/>
              <a:t>This project explores disaster tweet classification using classical Natural Language Processing (NLP) and machine learning techniques. The objective is to classify whether a tweet is related to a real disaster event or not based on its textual content.</a:t>
            </a:r>
          </a:p>
          <a:p>
            <a:r>
              <a:rPr lang="en-IN" sz="1600" dirty="0"/>
              <a:t>The project was built using the Kaggle </a:t>
            </a:r>
            <a:r>
              <a:rPr lang="en-IN" sz="1600" i="1" dirty="0"/>
              <a:t>Natural Language Processing with Disaster Tweets</a:t>
            </a:r>
            <a:r>
              <a:rPr lang="en-IN" sz="1600" dirty="0"/>
              <a:t> dataset and focuses on creating an interpretable end-to-end NLP workflow using traditional machine learning approaches.</a:t>
            </a:r>
          </a:p>
          <a:p>
            <a:r>
              <a:rPr lang="en-IN" sz="1600" dirty="0"/>
              <a:t>The workflow includes:</a:t>
            </a:r>
          </a:p>
          <a:p>
            <a:pPr lvl="0"/>
            <a:r>
              <a:rPr lang="en-IN" sz="1600" dirty="0"/>
              <a:t>Exploratory Data Analysis (EDA)</a:t>
            </a:r>
          </a:p>
          <a:p>
            <a:pPr lvl="0"/>
            <a:r>
              <a:rPr lang="en-IN" sz="1600" dirty="0"/>
              <a:t>Text preprocessing and cleaning</a:t>
            </a:r>
          </a:p>
          <a:p>
            <a:pPr lvl="0"/>
            <a:r>
              <a:rPr lang="en-IN" sz="1600" dirty="0"/>
              <a:t>TF-IDF feature engineering</a:t>
            </a:r>
          </a:p>
          <a:p>
            <a:pPr lvl="0"/>
            <a:r>
              <a:rPr lang="en-IN" sz="1600" dirty="0"/>
              <a:t>Baseline model comparison</a:t>
            </a:r>
          </a:p>
          <a:p>
            <a:pPr lvl="0"/>
            <a:r>
              <a:rPr lang="en-IN" sz="1600" dirty="0"/>
              <a:t>Hyperparameter tuning</a:t>
            </a:r>
          </a:p>
          <a:p>
            <a:pPr lvl="0"/>
            <a:r>
              <a:rPr lang="en-IN" sz="1600" dirty="0"/>
              <a:t>Model interpretation</a:t>
            </a:r>
          </a:p>
          <a:p>
            <a:pPr lvl="0"/>
            <a:r>
              <a:rPr lang="en-IN" sz="1600" dirty="0"/>
              <a:t>Error analysis</a:t>
            </a:r>
          </a:p>
          <a:p>
            <a:pPr lvl="0"/>
            <a:r>
              <a:rPr lang="en-IN" sz="1600" dirty="0"/>
              <a:t>Final Model submission generation</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0A83AF5-8184-D789-EB51-66F890B1AF6F}"/>
              </a:ext>
            </a:extLst>
          </p:cNvPr>
          <p:cNvSpPr txBox="1"/>
          <p:nvPr/>
        </p:nvSpPr>
        <p:spPr>
          <a:xfrm>
            <a:off x="585216" y="745998"/>
            <a:ext cx="8860536" cy="3908762"/>
          </a:xfrm>
          <a:prstGeom prst="rect">
            <a:avLst/>
          </a:prstGeom>
          <a:noFill/>
        </p:spPr>
        <p:txBody>
          <a:bodyPr wrap="square">
            <a:spAutoFit/>
          </a:bodyPr>
          <a:lstStyle/>
          <a:p>
            <a:pPr marL="0" marR="0" indent="0" algn="l">
              <a:spcBef>
                <a:spcPts val="1800"/>
              </a:spcBef>
              <a:spcAft>
                <a:spcPts val="1200"/>
              </a:spcAft>
              <a:buNone/>
            </a:pPr>
            <a:r>
              <a:rPr lang="en-IN" b="1" i="0" dirty="0">
                <a:solidFill>
                  <a:schemeClr val="tx1"/>
                </a:solidFill>
                <a:effectLst/>
                <a:latin typeface="+mn-lt"/>
              </a:rPr>
              <a:t>🎯 Business Problem</a:t>
            </a:r>
          </a:p>
          <a:p>
            <a:pPr marL="0" marR="0" indent="0" algn="l">
              <a:spcAft>
                <a:spcPts val="1200"/>
              </a:spcAft>
              <a:buNone/>
            </a:pPr>
            <a:r>
              <a:rPr lang="en-IN" sz="1600" b="0" i="0" dirty="0">
                <a:solidFill>
                  <a:schemeClr val="tx1"/>
                </a:solidFill>
                <a:effectLst/>
                <a:latin typeface="+mn-lt"/>
              </a:rPr>
              <a:t>Social media platforms often become one of the fastest sources of information during natural disasters, emergencies, and crisis events. However, large volumes of noisy and informal text make it difficult to identify genuinely important content in real time.</a:t>
            </a:r>
          </a:p>
          <a:p>
            <a:pPr marL="0" marR="0" indent="0" algn="l">
              <a:spcAft>
                <a:spcPts val="1200"/>
              </a:spcAft>
              <a:buNone/>
            </a:pPr>
            <a:r>
              <a:rPr lang="en-IN" sz="1600" b="0" i="0" dirty="0">
                <a:solidFill>
                  <a:schemeClr val="tx1"/>
                </a:solidFill>
                <a:effectLst/>
                <a:latin typeface="+mn-lt"/>
              </a:rPr>
              <a:t>This project demonstrates how machine learning can be used to automatically classify disaster-related tweets to support:</a:t>
            </a:r>
          </a:p>
          <a:p>
            <a:pPr marL="342900" lvl="0" indent="-342900" algn="l">
              <a:spcAft>
                <a:spcPts val="1200"/>
              </a:spcAft>
              <a:buFont typeface="Arial" panose="020B0604020202020204" pitchFamily="34" charset="0"/>
              <a:buChar char="•"/>
            </a:pPr>
            <a:r>
              <a:rPr lang="en-IN" sz="1600" dirty="0"/>
              <a:t>Emergency response monitoring</a:t>
            </a:r>
          </a:p>
          <a:p>
            <a:pPr marL="342900" lvl="0" indent="-342900" algn="l">
              <a:spcAft>
                <a:spcPts val="1200"/>
              </a:spcAft>
              <a:buFont typeface="Arial" panose="020B0604020202020204" pitchFamily="34" charset="0"/>
              <a:buChar char="•"/>
            </a:pPr>
            <a:r>
              <a:rPr lang="en-IN" sz="1600" dirty="0"/>
              <a:t>Crisis detection systems</a:t>
            </a:r>
          </a:p>
          <a:p>
            <a:pPr marL="342900" lvl="0" indent="-342900" algn="l">
              <a:spcAft>
                <a:spcPts val="1200"/>
              </a:spcAft>
              <a:buFont typeface="Arial" panose="020B0604020202020204" pitchFamily="34" charset="0"/>
              <a:buChar char="•"/>
            </a:pPr>
            <a:r>
              <a:rPr lang="en-IN" sz="1600" dirty="0"/>
              <a:t>Social media intelligence pipelines</a:t>
            </a:r>
          </a:p>
          <a:p>
            <a:pPr marL="342900" lvl="0" indent="-342900" algn="l">
              <a:spcAft>
                <a:spcPts val="1200"/>
              </a:spcAft>
              <a:buFont typeface="Arial" panose="020B0604020202020204" pitchFamily="34" charset="0"/>
              <a:buChar char="•"/>
            </a:pPr>
            <a:r>
              <a:rPr lang="en-IN" sz="1600" dirty="0"/>
              <a:t>Public safety analytics</a:t>
            </a:r>
          </a:p>
          <a:p>
            <a:pPr marL="342900" lvl="0" indent="-342900" algn="l">
              <a:spcAft>
                <a:spcPts val="1200"/>
              </a:spcAft>
              <a:buFont typeface="Arial" panose="020B0604020202020204" pitchFamily="34" charset="0"/>
              <a:buChar char="•"/>
            </a:pPr>
            <a:r>
              <a:rPr lang="en-IN" sz="1600" dirty="0"/>
              <a:t>Early-stage alert systems</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1069848" y="1294150"/>
            <a:ext cx="4838930" cy="4795754"/>
          </a:xfrm>
        </p:spPr>
        <p:txBody>
          <a:bodyPr>
            <a:noAutofit/>
          </a:bodyPr>
          <a:lstStyle/>
          <a:p>
            <a:r>
              <a:rPr lang="en-IN" sz="1600" b="1" dirty="0"/>
              <a:t>📂 Dataset Information</a:t>
            </a:r>
          </a:p>
          <a:p>
            <a:r>
              <a:rPr lang="en-IN" sz="1600" dirty="0"/>
              <a:t>Dataset Source: </a:t>
            </a:r>
            <a:r>
              <a:rPr lang="en-IN" sz="1600" u="sng" dirty="0"/>
              <a:t>twitter_disaster.xlsx</a:t>
            </a:r>
          </a:p>
          <a:p>
            <a:endParaRPr lang="en-IN" sz="1600" dirty="0"/>
          </a:p>
          <a:p>
            <a:r>
              <a:rPr lang="en-IN" sz="1600" b="1" dirty="0"/>
              <a:t>Training Dataset</a:t>
            </a:r>
          </a:p>
          <a:p>
            <a:pPr lvl="0"/>
            <a:r>
              <a:rPr lang="en-IN" sz="1600" dirty="0"/>
              <a:t>Rows: 7,613</a:t>
            </a:r>
          </a:p>
          <a:p>
            <a:pPr lvl="0"/>
            <a:r>
              <a:rPr lang="en-IN" sz="1600" dirty="0"/>
              <a:t>Columns: 5</a:t>
            </a:r>
            <a:br>
              <a:rPr lang="en-IN" sz="1600" dirty="0"/>
            </a:br>
            <a:endParaRPr lang="en-IN" sz="1600" dirty="0"/>
          </a:p>
          <a:p>
            <a:pPr lvl="0"/>
            <a:r>
              <a:rPr lang="en-IN" sz="1600" dirty="0"/>
              <a:t>Target Classes:</a:t>
            </a:r>
          </a:p>
          <a:p>
            <a:pPr lvl="1"/>
            <a:r>
              <a:rPr lang="en-IN" sz="1600" dirty="0"/>
              <a:t>0 → Non-disaster tweet</a:t>
            </a:r>
          </a:p>
          <a:p>
            <a:pPr lvl="1"/>
            <a:r>
              <a:rPr lang="en-IN" sz="1600" dirty="0"/>
              <a:t>1 → Disaster-related tweet</a:t>
            </a:r>
            <a:br>
              <a:rPr lang="en-IN" sz="1600" dirty="0"/>
            </a:br>
            <a:endParaRPr lang="en-IN" sz="1600" dirty="0"/>
          </a:p>
          <a:p>
            <a:r>
              <a:rPr lang="en-IN" sz="1600" b="1" dirty="0"/>
              <a:t>Dataset Characteristics</a:t>
            </a:r>
          </a:p>
          <a:p>
            <a:pPr marL="285750" lvl="0" indent="-285750">
              <a:buFont typeface="Arial" panose="020B0604020202020204" pitchFamily="34" charset="0"/>
              <a:buChar char="•"/>
            </a:pPr>
            <a:r>
              <a:rPr lang="en-IN" sz="1600" dirty="0"/>
              <a:t>Moderately balanced target distribution</a:t>
            </a:r>
          </a:p>
          <a:p>
            <a:pPr marL="285750" lvl="0" indent="-285750">
              <a:buFont typeface="Arial" panose="020B0604020202020204" pitchFamily="34" charset="0"/>
              <a:buChar char="•"/>
            </a:pPr>
            <a:r>
              <a:rPr lang="en-IN" sz="1600" dirty="0"/>
              <a:t>Informal social media language</a:t>
            </a:r>
          </a:p>
          <a:p>
            <a:pPr marL="285750" lvl="0" indent="-285750">
              <a:buFont typeface="Arial" panose="020B0604020202020204" pitchFamily="34" charset="0"/>
              <a:buChar char="•"/>
            </a:pPr>
            <a:r>
              <a:rPr lang="en-IN" sz="1600" dirty="0"/>
              <a:t>Contains hashtags, mentions, URLs, abbreviations, and slang</a:t>
            </a:r>
          </a:p>
          <a:p>
            <a:pPr marL="285750" lvl="0" indent="-285750">
              <a:buFont typeface="Arial" panose="020B0604020202020204" pitchFamily="34" charset="0"/>
              <a:buChar char="•"/>
            </a:pPr>
            <a:r>
              <a:rPr lang="en-IN" sz="1600" dirty="0"/>
              <a:t>Includes noisy and context-dependent text patterns</a:t>
            </a:r>
          </a:p>
        </p:txBody>
      </p:sp>
      <p:pic>
        <p:nvPicPr>
          <p:cNvPr id="10" name="Picture 9">
            <a:extLst>
              <a:ext uri="{FF2B5EF4-FFF2-40B4-BE49-F238E27FC236}">
                <a16:creationId xmlns:a16="http://schemas.microsoft.com/office/drawing/2014/main" id="{0D8A992B-AE2C-3FE3-E735-1D3B55A0F161}"/>
              </a:ext>
            </a:extLst>
          </p:cNvPr>
          <p:cNvPicPr>
            <a:picLocks noChangeAspect="1"/>
          </p:cNvPicPr>
          <p:nvPr/>
        </p:nvPicPr>
        <p:blipFill>
          <a:blip r:embed="rId3"/>
          <a:stretch>
            <a:fillRect/>
          </a:stretch>
        </p:blipFill>
        <p:spPr>
          <a:xfrm>
            <a:off x="6096000" y="1294150"/>
            <a:ext cx="5503085" cy="4201394"/>
          </a:xfrm>
          <a:prstGeom prst="rect">
            <a:avLst/>
          </a:prstGeom>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537021" y="62748"/>
            <a:ext cx="7965460" cy="6447779"/>
          </a:xfrm>
        </p:spPr>
        <p:txBody>
          <a:bodyPr>
            <a:noAutofit/>
          </a:bodyPr>
          <a:lstStyle/>
          <a:p>
            <a:pPr marL="0" indent="0">
              <a:buNone/>
            </a:pPr>
            <a:r>
              <a:rPr lang="en-IN" sz="2000" b="1" dirty="0"/>
              <a:t>🛠️ Technologies Used</a:t>
            </a:r>
          </a:p>
          <a:p>
            <a:pPr marL="0" indent="0">
              <a:buNone/>
            </a:pPr>
            <a:endParaRPr lang="en-IN" sz="1600" b="1" dirty="0"/>
          </a:p>
          <a:p>
            <a:pPr marL="0" indent="0">
              <a:buNone/>
            </a:pPr>
            <a:r>
              <a:rPr lang="en-IN" sz="1600" b="1" dirty="0"/>
              <a:t>Programming Language :</a:t>
            </a:r>
          </a:p>
          <a:p>
            <a:pPr lvl="0"/>
            <a:r>
              <a:rPr lang="en-IN" sz="1600" dirty="0"/>
              <a:t>Python</a:t>
            </a:r>
          </a:p>
          <a:p>
            <a:pPr marL="0" lvl="0" indent="0">
              <a:buNone/>
            </a:pPr>
            <a:endParaRPr lang="en-IN" sz="1600" dirty="0"/>
          </a:p>
          <a:p>
            <a:r>
              <a:rPr lang="en-IN" sz="1600" b="1" dirty="0"/>
              <a:t>Libraries:</a:t>
            </a:r>
          </a:p>
          <a:p>
            <a:pPr lvl="0"/>
            <a:r>
              <a:rPr lang="en-IN" sz="1600" dirty="0"/>
              <a:t>pandas</a:t>
            </a:r>
          </a:p>
          <a:p>
            <a:pPr lvl="0"/>
            <a:r>
              <a:rPr lang="en-IN" sz="1600" dirty="0" err="1"/>
              <a:t>numpy</a:t>
            </a:r>
            <a:endParaRPr lang="en-IN" sz="1600" dirty="0"/>
          </a:p>
          <a:p>
            <a:pPr lvl="0"/>
            <a:r>
              <a:rPr lang="en-IN" sz="1600" dirty="0"/>
              <a:t>matplotlib</a:t>
            </a:r>
          </a:p>
          <a:p>
            <a:pPr lvl="0"/>
            <a:r>
              <a:rPr lang="en-IN" sz="1600" dirty="0"/>
              <a:t>seaborn</a:t>
            </a:r>
          </a:p>
          <a:p>
            <a:pPr lvl="0"/>
            <a:r>
              <a:rPr lang="en-IN" sz="1600" dirty="0" err="1"/>
              <a:t>nltk</a:t>
            </a:r>
            <a:endParaRPr lang="en-IN" sz="1600" dirty="0"/>
          </a:p>
          <a:p>
            <a:pPr lvl="0"/>
            <a:r>
              <a:rPr lang="en-IN" sz="1600" dirty="0"/>
              <a:t>scikit-learn</a:t>
            </a:r>
          </a:p>
          <a:p>
            <a:pPr marL="0" lvl="0" indent="0">
              <a:buNone/>
            </a:pPr>
            <a:endParaRPr lang="en-IN" sz="1600" dirty="0"/>
          </a:p>
          <a:p>
            <a:pPr marL="0" indent="0">
              <a:buNone/>
            </a:pPr>
            <a:r>
              <a:rPr lang="en-IN" sz="1600" b="1" dirty="0"/>
              <a:t>Machine Learning Techniques:</a:t>
            </a:r>
          </a:p>
          <a:p>
            <a:r>
              <a:rPr lang="en-IN" sz="1600" dirty="0"/>
              <a:t>TF-IDF Vectorization</a:t>
            </a:r>
          </a:p>
          <a:p>
            <a:pPr lvl="0"/>
            <a:r>
              <a:rPr lang="en-IN" sz="1600" dirty="0"/>
              <a:t>Multinomial Naive Bayes</a:t>
            </a:r>
          </a:p>
          <a:p>
            <a:pPr lvl="0"/>
            <a:r>
              <a:rPr lang="en-IN" sz="1600" dirty="0"/>
              <a:t>Logistic Regression</a:t>
            </a:r>
          </a:p>
          <a:p>
            <a:pPr lvl="0"/>
            <a:r>
              <a:rPr lang="en-IN" sz="1600" dirty="0" err="1"/>
              <a:t>GridSearchCV</a:t>
            </a:r>
            <a:r>
              <a:rPr lang="en-IN" sz="1600" dirty="0"/>
              <a:t> Hyperparameter Tuning</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pic>
        <p:nvPicPr>
          <p:cNvPr id="7" name="Picture 6">
            <a:extLst>
              <a:ext uri="{FF2B5EF4-FFF2-40B4-BE49-F238E27FC236}">
                <a16:creationId xmlns:a16="http://schemas.microsoft.com/office/drawing/2014/main" id="{FAD88C7E-82BA-6363-C25F-87192C429CB5}"/>
              </a:ext>
            </a:extLst>
          </p:cNvPr>
          <p:cNvPicPr>
            <a:picLocks noChangeAspect="1"/>
          </p:cNvPicPr>
          <p:nvPr/>
        </p:nvPicPr>
        <p:blipFill>
          <a:blip r:embed="rId3"/>
          <a:stretch>
            <a:fillRect/>
          </a:stretch>
        </p:blipFill>
        <p:spPr>
          <a:xfrm>
            <a:off x="7092490" y="1047980"/>
            <a:ext cx="3054507" cy="939848"/>
          </a:xfrm>
          <a:prstGeom prst="rect">
            <a:avLst/>
          </a:prstGeom>
        </p:spPr>
      </p:pic>
      <p:pic>
        <p:nvPicPr>
          <p:cNvPr id="9" name="Picture 8">
            <a:extLst>
              <a:ext uri="{FF2B5EF4-FFF2-40B4-BE49-F238E27FC236}">
                <a16:creationId xmlns:a16="http://schemas.microsoft.com/office/drawing/2014/main" id="{020EB412-1BDB-E3D1-F9C0-29470D263BC4}"/>
              </a:ext>
            </a:extLst>
          </p:cNvPr>
          <p:cNvPicPr>
            <a:picLocks noChangeAspect="1"/>
          </p:cNvPicPr>
          <p:nvPr/>
        </p:nvPicPr>
        <p:blipFill>
          <a:blip r:embed="rId4"/>
          <a:stretch>
            <a:fillRect/>
          </a:stretch>
        </p:blipFill>
        <p:spPr>
          <a:xfrm>
            <a:off x="6618461" y="2191970"/>
            <a:ext cx="4273770" cy="1562180"/>
          </a:xfrm>
          <a:prstGeom prst="rect">
            <a:avLst/>
          </a:prstGeom>
        </p:spPr>
      </p:pic>
      <p:pic>
        <p:nvPicPr>
          <p:cNvPr id="11" name="Picture 10">
            <a:extLst>
              <a:ext uri="{FF2B5EF4-FFF2-40B4-BE49-F238E27FC236}">
                <a16:creationId xmlns:a16="http://schemas.microsoft.com/office/drawing/2014/main" id="{C522D157-2CE2-81F1-BDDE-667B264AC597}"/>
              </a:ext>
            </a:extLst>
          </p:cNvPr>
          <p:cNvPicPr>
            <a:picLocks noChangeAspect="1"/>
          </p:cNvPicPr>
          <p:nvPr/>
        </p:nvPicPr>
        <p:blipFill>
          <a:blip r:embed="rId5"/>
          <a:stretch>
            <a:fillRect/>
          </a:stretch>
        </p:blipFill>
        <p:spPr>
          <a:xfrm>
            <a:off x="5857004" y="3958292"/>
            <a:ext cx="6011908" cy="1835244"/>
          </a:xfrm>
          <a:prstGeom prst="rect">
            <a:avLst/>
          </a:prstGeom>
        </p:spPr>
      </p:pic>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3642432" y="457199"/>
            <a:ext cx="7043618" cy="3588746"/>
          </a:xfrm>
        </p:spPr>
        <p:txBody>
          <a:bodyPr>
            <a:noAutofit/>
          </a:bodyPr>
          <a:lstStyle/>
          <a:p>
            <a:r>
              <a:rPr lang="en-IN" sz="1800" b="1" dirty="0"/>
              <a:t>📊 Exploratory Data Analysis</a:t>
            </a:r>
          </a:p>
          <a:p>
            <a:endParaRPr lang="en-IN" sz="1800" b="1" dirty="0"/>
          </a:p>
          <a:p>
            <a:pPr marL="285750" indent="-285750">
              <a:buFont typeface="Wingdings" panose="05000000000000000000" pitchFamily="2" charset="2"/>
              <a:buChar char="Ø"/>
            </a:pPr>
            <a:r>
              <a:rPr lang="en-IN" sz="1600" dirty="0"/>
              <a:t>The exploratory analysis revealed several useful patterns:</a:t>
            </a:r>
          </a:p>
          <a:p>
            <a:pPr marL="633222" lvl="1" indent="-285750"/>
            <a:r>
              <a:rPr lang="en-IN" sz="1600" dirty="0"/>
              <a:t>Disaster-related tweets were generally longer on average.</a:t>
            </a:r>
          </a:p>
          <a:p>
            <a:pPr marL="633222" lvl="1" indent="-285750"/>
            <a:r>
              <a:rPr lang="en-IN" sz="1600" dirty="0"/>
              <a:t>Tweet text contained significant noise such as hashtags, mentions, and URLs.</a:t>
            </a:r>
          </a:p>
          <a:p>
            <a:pPr marL="633222" lvl="1" indent="-285750"/>
            <a:r>
              <a:rPr lang="en-IN" sz="1600" dirty="0"/>
              <a:t>Disaster keywords such as wildfire, earthquake, and flood appeared frequently in positive samples.</a:t>
            </a:r>
          </a:p>
          <a:p>
            <a:pPr marL="633222" lvl="1" indent="-285750"/>
            <a:r>
              <a:rPr lang="en-IN" sz="1600" dirty="0"/>
              <a:t>The dataset contained both literal and figurative disaster-related language.</a:t>
            </a:r>
          </a:p>
        </p:txBody>
      </p:sp>
      <p:pic>
        <p:nvPicPr>
          <p:cNvPr id="8" name="Picture 7">
            <a:extLst>
              <a:ext uri="{FF2B5EF4-FFF2-40B4-BE49-F238E27FC236}">
                <a16:creationId xmlns:a16="http://schemas.microsoft.com/office/drawing/2014/main" id="{75390180-2265-11A1-7D42-CB5411DB037A}"/>
              </a:ext>
            </a:extLst>
          </p:cNvPr>
          <p:cNvPicPr>
            <a:picLocks noChangeAspect="1"/>
          </p:cNvPicPr>
          <p:nvPr/>
        </p:nvPicPr>
        <p:blipFill>
          <a:blip r:embed="rId3"/>
          <a:stretch>
            <a:fillRect/>
          </a:stretch>
        </p:blipFill>
        <p:spPr>
          <a:xfrm>
            <a:off x="4654910" y="3213905"/>
            <a:ext cx="4558337" cy="3506936"/>
          </a:xfrm>
          <a:prstGeom prst="rect">
            <a:avLst/>
          </a:prstGeom>
        </p:spPr>
      </p:pic>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graphicFrame>
        <p:nvGraphicFramePr>
          <p:cNvPr id="6" name="Table 5">
            <a:extLst>
              <a:ext uri="{FF2B5EF4-FFF2-40B4-BE49-F238E27FC236}">
                <a16:creationId xmlns:a16="http://schemas.microsoft.com/office/drawing/2014/main" id="{D4ECBF62-3485-4EB8-5538-FB6CEB2A4E9B}"/>
              </a:ext>
            </a:extLst>
          </p:cNvPr>
          <p:cNvGraphicFramePr>
            <a:graphicFrameLocks noGrp="1"/>
          </p:cNvGraphicFramePr>
          <p:nvPr>
            <p:extLst>
              <p:ext uri="{D42A27DB-BD31-4B8C-83A1-F6EECF244321}">
                <p14:modId xmlns:p14="http://schemas.microsoft.com/office/powerpoint/2010/main" val="1938531980"/>
              </p:ext>
            </p:extLst>
          </p:nvPr>
        </p:nvGraphicFramePr>
        <p:xfrm>
          <a:off x="261077" y="4403693"/>
          <a:ext cx="8407436" cy="1325880"/>
        </p:xfrm>
        <a:graphic>
          <a:graphicData uri="http://schemas.openxmlformats.org/drawingml/2006/table">
            <a:tbl>
              <a:tblPr>
                <a:tableStyleId>{3B4B98B0-60AC-42C2-AFA5-B58CD77FA1E5}</a:tableStyleId>
              </a:tblPr>
              <a:tblGrid>
                <a:gridCol w="4203718">
                  <a:extLst>
                    <a:ext uri="{9D8B030D-6E8A-4147-A177-3AD203B41FA5}">
                      <a16:colId xmlns:a16="http://schemas.microsoft.com/office/drawing/2014/main" val="3033394635"/>
                    </a:ext>
                  </a:extLst>
                </a:gridCol>
                <a:gridCol w="4203718">
                  <a:extLst>
                    <a:ext uri="{9D8B030D-6E8A-4147-A177-3AD203B41FA5}">
                      <a16:colId xmlns:a16="http://schemas.microsoft.com/office/drawing/2014/main" val="479826459"/>
                    </a:ext>
                  </a:extLst>
                </a:gridCol>
              </a:tblGrid>
              <a:tr h="350520">
                <a:tc>
                  <a:txBody>
                    <a:bodyPr/>
                    <a:lstStyle/>
                    <a:p>
                      <a:pPr>
                        <a:spcAft>
                          <a:spcPts val="1200"/>
                        </a:spcAft>
                        <a:buNone/>
                      </a:pPr>
                      <a:r>
                        <a:rPr lang="en-IN" sz="1600" b="1" dirty="0">
                          <a:effectLst/>
                        </a:rPr>
                        <a:t>Original Text</a:t>
                      </a:r>
                    </a:p>
                  </a:txBody>
                  <a:tcPr marL="82550" marR="82550" marT="38100" marB="38100" anchor="ctr"/>
                </a:tc>
                <a:tc>
                  <a:txBody>
                    <a:bodyPr/>
                    <a:lstStyle/>
                    <a:p>
                      <a:pPr>
                        <a:spcAft>
                          <a:spcPts val="1200"/>
                        </a:spcAft>
                        <a:buNone/>
                      </a:pPr>
                      <a:r>
                        <a:rPr lang="en-IN" sz="1600" b="1" dirty="0">
                          <a:effectLst/>
                        </a:rPr>
                        <a:t>Cleaned Text</a:t>
                      </a:r>
                    </a:p>
                  </a:txBody>
                  <a:tcPr marL="82550" marR="82550" marT="38100" marB="38100" anchor="ctr"/>
                </a:tc>
                <a:extLst>
                  <a:ext uri="{0D108BD9-81ED-4DB2-BD59-A6C34878D82A}">
                    <a16:rowId xmlns:a16="http://schemas.microsoft.com/office/drawing/2014/main" val="3482475147"/>
                  </a:ext>
                </a:extLst>
              </a:tr>
              <a:tr h="350520">
                <a:tc>
                  <a:txBody>
                    <a:bodyPr/>
                    <a:lstStyle/>
                    <a:p>
                      <a:pPr>
                        <a:spcAft>
                          <a:spcPts val="1200"/>
                        </a:spcAft>
                        <a:buNone/>
                      </a:pPr>
                      <a:r>
                        <a:rPr lang="en-IN" sz="1600">
                          <a:effectLst/>
                        </a:rPr>
                        <a:t>Forest fire near La Ronge Sask. Canada</a:t>
                      </a:r>
                    </a:p>
                  </a:txBody>
                  <a:tcPr marL="82550" marR="82550" marT="38100" marB="38100" anchor="ctr"/>
                </a:tc>
                <a:tc>
                  <a:txBody>
                    <a:bodyPr/>
                    <a:lstStyle/>
                    <a:p>
                      <a:pPr>
                        <a:spcAft>
                          <a:spcPts val="1200"/>
                        </a:spcAft>
                        <a:buNone/>
                      </a:pPr>
                      <a:r>
                        <a:rPr lang="en-IN" sz="1600">
                          <a:effectLst/>
                        </a:rPr>
                        <a:t>forest fire near rong sask canada</a:t>
                      </a:r>
                    </a:p>
                  </a:txBody>
                  <a:tcPr marL="82550" marR="82550" marT="38100" marB="38100" anchor="ctr"/>
                </a:tc>
                <a:extLst>
                  <a:ext uri="{0D108BD9-81ED-4DB2-BD59-A6C34878D82A}">
                    <a16:rowId xmlns:a16="http://schemas.microsoft.com/office/drawing/2014/main" val="3876896193"/>
                  </a:ext>
                </a:extLst>
              </a:tr>
              <a:tr h="624840">
                <a:tc>
                  <a:txBody>
                    <a:bodyPr/>
                    <a:lstStyle/>
                    <a:p>
                      <a:pPr>
                        <a:spcAft>
                          <a:spcPts val="1200"/>
                        </a:spcAft>
                        <a:buNone/>
                      </a:pPr>
                      <a:r>
                        <a:rPr lang="en-IN" sz="1600" dirty="0">
                          <a:effectLst/>
                        </a:rPr>
                        <a:t>13,000 people receive #wildfires evacuation orders in California</a:t>
                      </a:r>
                    </a:p>
                  </a:txBody>
                  <a:tcPr marL="82550" marR="82550" marT="38100" marB="38100" anchor="ctr"/>
                </a:tc>
                <a:tc>
                  <a:txBody>
                    <a:bodyPr/>
                    <a:lstStyle/>
                    <a:p>
                      <a:pPr>
                        <a:spcAft>
                          <a:spcPts val="1200"/>
                        </a:spcAft>
                        <a:buNone/>
                      </a:pPr>
                      <a:r>
                        <a:rPr lang="en-IN" sz="1600" dirty="0" err="1">
                          <a:effectLst/>
                        </a:rPr>
                        <a:t>peopl</a:t>
                      </a:r>
                      <a:r>
                        <a:rPr lang="en-IN" sz="1600" dirty="0">
                          <a:effectLst/>
                        </a:rPr>
                        <a:t> </a:t>
                      </a:r>
                      <a:r>
                        <a:rPr lang="en-IN" sz="1600" dirty="0" err="1">
                          <a:effectLst/>
                        </a:rPr>
                        <a:t>receiv</a:t>
                      </a:r>
                      <a:r>
                        <a:rPr lang="en-IN" sz="1600" dirty="0">
                          <a:effectLst/>
                        </a:rPr>
                        <a:t> </a:t>
                      </a:r>
                      <a:r>
                        <a:rPr lang="en-IN" sz="1600" dirty="0" err="1">
                          <a:effectLst/>
                        </a:rPr>
                        <a:t>wildfir</a:t>
                      </a:r>
                      <a:r>
                        <a:rPr lang="en-IN" sz="1600" dirty="0">
                          <a:effectLst/>
                        </a:rPr>
                        <a:t> </a:t>
                      </a:r>
                      <a:r>
                        <a:rPr lang="en-IN" sz="1600" dirty="0" err="1">
                          <a:effectLst/>
                        </a:rPr>
                        <a:t>evacu</a:t>
                      </a:r>
                      <a:r>
                        <a:rPr lang="en-IN" sz="1600" dirty="0">
                          <a:effectLst/>
                        </a:rPr>
                        <a:t> order </a:t>
                      </a:r>
                      <a:r>
                        <a:rPr lang="en-IN" sz="1600" dirty="0" err="1">
                          <a:effectLst/>
                        </a:rPr>
                        <a:t>california</a:t>
                      </a:r>
                      <a:endParaRPr lang="en-IN" sz="1600" dirty="0">
                        <a:effectLst/>
                      </a:endParaRPr>
                    </a:p>
                  </a:txBody>
                  <a:tcPr marL="82550" marR="82550" marT="38100" marB="38100" anchor="ctr"/>
                </a:tc>
                <a:extLst>
                  <a:ext uri="{0D108BD9-81ED-4DB2-BD59-A6C34878D82A}">
                    <a16:rowId xmlns:a16="http://schemas.microsoft.com/office/drawing/2014/main" val="3751859086"/>
                  </a:ext>
                </a:extLst>
              </a:tr>
            </a:tbl>
          </a:graphicData>
        </a:graphic>
      </p:graphicFrame>
      <p:sp>
        <p:nvSpPr>
          <p:cNvPr id="8" name="TextBox 7">
            <a:extLst>
              <a:ext uri="{FF2B5EF4-FFF2-40B4-BE49-F238E27FC236}">
                <a16:creationId xmlns:a16="http://schemas.microsoft.com/office/drawing/2014/main" id="{5B9F026D-0F81-F5F2-2B89-3D7BDFDACB38}"/>
              </a:ext>
            </a:extLst>
          </p:cNvPr>
          <p:cNvSpPr txBox="1"/>
          <p:nvPr/>
        </p:nvSpPr>
        <p:spPr>
          <a:xfrm>
            <a:off x="669798" y="287179"/>
            <a:ext cx="6094476" cy="3970318"/>
          </a:xfrm>
          <a:prstGeom prst="rect">
            <a:avLst/>
          </a:prstGeom>
          <a:noFill/>
        </p:spPr>
        <p:txBody>
          <a:bodyPr wrap="square">
            <a:spAutoFit/>
          </a:bodyPr>
          <a:lstStyle/>
          <a:p>
            <a:pPr marL="0" marR="0" indent="0" algn="l">
              <a:spcBef>
                <a:spcPts val="1800"/>
              </a:spcBef>
              <a:spcAft>
                <a:spcPts val="1200"/>
              </a:spcAft>
              <a:buNone/>
            </a:pPr>
            <a:r>
              <a:rPr lang="en-IN" sz="2000" b="1" i="0" dirty="0">
                <a:solidFill>
                  <a:schemeClr val="tx1"/>
                </a:solidFill>
                <a:effectLst/>
                <a:latin typeface="+mn-lt"/>
              </a:rPr>
              <a:t>🧹 Text Preprocessing</a:t>
            </a:r>
          </a:p>
          <a:p>
            <a:pPr marL="0" marR="0" indent="0" algn="l">
              <a:spcAft>
                <a:spcPts val="1200"/>
              </a:spcAft>
              <a:buNone/>
            </a:pPr>
            <a:r>
              <a:rPr lang="en-IN" sz="1600" b="0" i="0" dirty="0">
                <a:solidFill>
                  <a:schemeClr val="tx1"/>
                </a:solidFill>
                <a:effectLst/>
                <a:latin typeface="+mn-lt"/>
              </a:rPr>
              <a:t>The text preprocessing pipeline included:</a:t>
            </a:r>
          </a:p>
          <a:p>
            <a:pPr marL="285750" marR="0" indent="-285750" algn="l">
              <a:spcAft>
                <a:spcPts val="1200"/>
              </a:spcAft>
              <a:buFont typeface="Arial" panose="020B0604020202020204" pitchFamily="34" charset="0"/>
              <a:buChar char="•"/>
            </a:pPr>
            <a:r>
              <a:rPr lang="en-IN" sz="1600" b="0" i="0" dirty="0">
                <a:solidFill>
                  <a:schemeClr val="tx1"/>
                </a:solidFill>
                <a:effectLst/>
                <a:latin typeface="+mn-lt"/>
              </a:rPr>
              <a:t>Lowercasing text</a:t>
            </a:r>
          </a:p>
          <a:p>
            <a:pPr marL="342900" lvl="0" indent="-342900" algn="l">
              <a:spcAft>
                <a:spcPts val="1200"/>
              </a:spcAft>
              <a:buFont typeface="Arial" panose="020B0604020202020204" pitchFamily="34" charset="0"/>
              <a:buChar char="•"/>
            </a:pPr>
            <a:r>
              <a:rPr lang="en-IN" sz="1600" b="0" i="0" dirty="0">
                <a:solidFill>
                  <a:schemeClr val="tx1"/>
                </a:solidFill>
                <a:effectLst/>
                <a:latin typeface="+mn-lt"/>
              </a:rPr>
              <a:t>Removing URLs</a:t>
            </a:r>
          </a:p>
          <a:p>
            <a:pPr marL="342900" lvl="0" indent="-342900" algn="l">
              <a:spcAft>
                <a:spcPts val="1200"/>
              </a:spcAft>
              <a:buFont typeface="Arial" panose="020B0604020202020204" pitchFamily="34" charset="0"/>
              <a:buChar char="•"/>
            </a:pPr>
            <a:r>
              <a:rPr lang="en-IN" sz="1600" b="0" i="0" dirty="0">
                <a:solidFill>
                  <a:schemeClr val="tx1"/>
                </a:solidFill>
                <a:effectLst/>
                <a:latin typeface="+mn-lt"/>
              </a:rPr>
              <a:t>Removing user mentions</a:t>
            </a:r>
          </a:p>
          <a:p>
            <a:pPr marL="342900" lvl="0" indent="-342900" algn="l">
              <a:spcAft>
                <a:spcPts val="1200"/>
              </a:spcAft>
              <a:buFont typeface="Arial" panose="020B0604020202020204" pitchFamily="34" charset="0"/>
              <a:buChar char="•"/>
            </a:pPr>
            <a:r>
              <a:rPr lang="en-IN" sz="1600" b="0" i="0" dirty="0">
                <a:solidFill>
                  <a:schemeClr val="tx1"/>
                </a:solidFill>
                <a:effectLst/>
                <a:latin typeface="+mn-lt"/>
              </a:rPr>
              <a:t>Removing punctuation and numbers</a:t>
            </a:r>
          </a:p>
          <a:p>
            <a:pPr marL="342900" lvl="0" indent="-342900" algn="l">
              <a:spcAft>
                <a:spcPts val="1200"/>
              </a:spcAft>
              <a:buFont typeface="Arial" panose="020B0604020202020204" pitchFamily="34" charset="0"/>
              <a:buChar char="•"/>
            </a:pPr>
            <a:r>
              <a:rPr lang="en-IN" sz="1600" b="0" i="0" dirty="0">
                <a:solidFill>
                  <a:schemeClr val="tx1"/>
                </a:solidFill>
                <a:effectLst/>
                <a:latin typeface="+mn-lt"/>
              </a:rPr>
              <a:t>Tokenization</a:t>
            </a:r>
          </a:p>
          <a:p>
            <a:pPr marL="342900" lvl="0" indent="-342900" algn="l">
              <a:spcAft>
                <a:spcPts val="1200"/>
              </a:spcAft>
              <a:buFont typeface="Arial" panose="020B0604020202020204" pitchFamily="34" charset="0"/>
              <a:buChar char="•"/>
            </a:pPr>
            <a:r>
              <a:rPr lang="en-IN" sz="1600" b="0" i="0" dirty="0">
                <a:solidFill>
                  <a:schemeClr val="tx1"/>
                </a:solidFill>
                <a:effectLst/>
                <a:latin typeface="+mn-lt"/>
              </a:rPr>
              <a:t>Stopword removal</a:t>
            </a:r>
          </a:p>
          <a:p>
            <a:pPr marL="342900" lvl="0" indent="-342900" algn="l">
              <a:spcAft>
                <a:spcPts val="1200"/>
              </a:spcAft>
              <a:buFont typeface="Arial" panose="020B0604020202020204" pitchFamily="34" charset="0"/>
              <a:buChar char="•"/>
            </a:pPr>
            <a:r>
              <a:rPr lang="en-IN" sz="1600" b="0" i="0" dirty="0">
                <a:solidFill>
                  <a:schemeClr val="tx1"/>
                </a:solidFill>
                <a:effectLst/>
                <a:latin typeface="+mn-lt"/>
              </a:rPr>
              <a:t>Porter stemming</a:t>
            </a:r>
          </a:p>
          <a:p>
            <a:pPr marL="0" marR="0" indent="0" algn="l">
              <a:spcAft>
                <a:spcPts val="1200"/>
              </a:spcAft>
              <a:buNone/>
            </a:pPr>
            <a:r>
              <a:rPr lang="en-IN" sz="1600" b="0" i="0" dirty="0">
                <a:solidFill>
                  <a:schemeClr val="tx1"/>
                </a:solidFill>
                <a:effectLst/>
                <a:latin typeface="+mn-lt"/>
              </a:rPr>
              <a:t>Example transformation:</a:t>
            </a:r>
            <a:endParaRPr lang="en-IN" sz="1600" b="0" i="0" dirty="0">
              <a:solidFill>
                <a:srgbClr val="F0F6FC"/>
              </a:solidFill>
              <a:effectLst/>
              <a:latin typeface="Mona Sans VF"/>
            </a:endParaRPr>
          </a:p>
        </p:txBody>
      </p:sp>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1017587" y="692943"/>
            <a:ext cx="6654229" cy="4143375"/>
          </a:xfrm>
        </p:spPr>
        <p:txBody>
          <a:bodyPr/>
          <a:lstStyle/>
          <a:p>
            <a:r>
              <a:rPr lang="en-IN" b="1" dirty="0"/>
              <a:t>🤖 Model Interpretation</a:t>
            </a:r>
          </a:p>
          <a:p>
            <a:endParaRPr lang="en-IN" b="1"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pic>
        <p:nvPicPr>
          <p:cNvPr id="12" name="Picture 11">
            <a:extLst>
              <a:ext uri="{FF2B5EF4-FFF2-40B4-BE49-F238E27FC236}">
                <a16:creationId xmlns:a16="http://schemas.microsoft.com/office/drawing/2014/main" id="{A0B50369-52D6-D6B0-1E80-FA03346094B7}"/>
              </a:ext>
            </a:extLst>
          </p:cNvPr>
          <p:cNvPicPr>
            <a:picLocks noChangeAspect="1"/>
          </p:cNvPicPr>
          <p:nvPr/>
        </p:nvPicPr>
        <p:blipFill>
          <a:blip r:embed="rId3"/>
          <a:stretch>
            <a:fillRect/>
          </a:stretch>
        </p:blipFill>
        <p:spPr>
          <a:xfrm>
            <a:off x="1017587" y="1292115"/>
            <a:ext cx="7601341" cy="4273770"/>
          </a:xfrm>
          <a:prstGeom prst="rect">
            <a:avLst/>
          </a:prstGeom>
        </p:spPr>
      </p:pic>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649224" y="585287"/>
            <a:ext cx="6903076" cy="2752273"/>
          </a:xfrm>
        </p:spPr>
        <p:txBody>
          <a:bodyPr>
            <a:normAutofit/>
          </a:bodyPr>
          <a:lstStyle/>
          <a:p>
            <a:r>
              <a:rPr lang="en-IN" sz="1800" b="1" dirty="0"/>
              <a:t>⚠️ Error Analysis</a:t>
            </a:r>
          </a:p>
          <a:p>
            <a:endParaRPr lang="en-IN" sz="1800" b="1" dirty="0"/>
          </a:p>
          <a:p>
            <a:pPr marL="285750" indent="-285750">
              <a:buFont typeface="Wingdings" panose="05000000000000000000" pitchFamily="2" charset="2"/>
              <a:buChar char="Ø"/>
            </a:pPr>
            <a:r>
              <a:rPr lang="en-IN" sz="1600" dirty="0"/>
              <a:t>The error analysis revealed several common NLP limitations:</a:t>
            </a:r>
          </a:p>
          <a:p>
            <a:pPr marL="633222" lvl="1" indent="-285750"/>
            <a:r>
              <a:rPr lang="en-IN" sz="1600" dirty="0"/>
              <a:t>Figurative language and sarcasm confused the model.</a:t>
            </a:r>
          </a:p>
          <a:p>
            <a:pPr marL="633222" lvl="1" indent="-285750"/>
            <a:r>
              <a:rPr lang="en-IN" sz="1600" dirty="0"/>
              <a:t>Some tweets used disaster-related words in non-disaster contexts.</a:t>
            </a:r>
          </a:p>
          <a:p>
            <a:pPr marL="633222" lvl="1" indent="-285750"/>
            <a:r>
              <a:rPr lang="en-IN" sz="1600" dirty="0"/>
              <a:t>Context-dependent tweets remained difficult to classify correctly.</a:t>
            </a:r>
          </a:p>
          <a:p>
            <a:pPr marL="633222" lvl="1" indent="-285750"/>
            <a:r>
              <a:rPr lang="en-IN" sz="1600" dirty="0"/>
              <a:t>Traditional NLP models struggled with semantic understanding.</a:t>
            </a:r>
          </a:p>
          <a:p>
            <a:pPr lvl="1" indent="0">
              <a:buNone/>
            </a:pPr>
            <a:endParaRPr lang="en-IN" sz="1600" dirty="0"/>
          </a:p>
          <a:p>
            <a:r>
              <a:rPr lang="en-IN" sz="1600" dirty="0"/>
              <a:t>These observations highlight why more advanced transformer-based NLP models may outperform classical approaches in production environments.</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407210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
        <p:nvSpPr>
          <p:cNvPr id="13" name="TextBox 12">
            <a:extLst>
              <a:ext uri="{FF2B5EF4-FFF2-40B4-BE49-F238E27FC236}">
                <a16:creationId xmlns:a16="http://schemas.microsoft.com/office/drawing/2014/main" id="{74D0AE30-974C-CDD2-4EEF-7D06CD36F538}"/>
              </a:ext>
            </a:extLst>
          </p:cNvPr>
          <p:cNvSpPr txBox="1"/>
          <p:nvPr/>
        </p:nvSpPr>
        <p:spPr>
          <a:xfrm>
            <a:off x="1727454" y="352806"/>
            <a:ext cx="7882890" cy="4678204"/>
          </a:xfrm>
          <a:prstGeom prst="rect">
            <a:avLst/>
          </a:prstGeom>
          <a:noFill/>
        </p:spPr>
        <p:txBody>
          <a:bodyPr wrap="square">
            <a:spAutoFit/>
          </a:bodyPr>
          <a:lstStyle/>
          <a:p>
            <a:pPr>
              <a:spcAft>
                <a:spcPts val="1200"/>
              </a:spcAft>
            </a:pPr>
            <a:r>
              <a:rPr lang="en-IN" sz="2000" b="1" dirty="0"/>
              <a:t>📌 Final Conclusion</a:t>
            </a:r>
          </a:p>
          <a:p>
            <a:pPr marL="0" marR="0" indent="0" algn="l">
              <a:spcAft>
                <a:spcPts val="1200"/>
              </a:spcAft>
              <a:buNone/>
            </a:pPr>
            <a:r>
              <a:rPr lang="en-IN" sz="1800" b="0" i="0" dirty="0">
                <a:solidFill>
                  <a:schemeClr val="tx1"/>
                </a:solidFill>
                <a:effectLst/>
                <a:latin typeface="+mn-lt"/>
              </a:rPr>
              <a:t>This project demonstrates how classical NLP and machine learning techniques can still provide strong baseline performance for text classification tasks.</a:t>
            </a:r>
          </a:p>
          <a:p>
            <a:pPr marL="0" marR="0" indent="0" algn="l">
              <a:spcAft>
                <a:spcPts val="1200"/>
              </a:spcAft>
              <a:buNone/>
            </a:pPr>
            <a:r>
              <a:rPr lang="en-IN" sz="1800" b="0" i="0" dirty="0">
                <a:solidFill>
                  <a:schemeClr val="tx1"/>
                </a:solidFill>
                <a:effectLst/>
                <a:latin typeface="+mn-lt"/>
              </a:rPr>
              <a:t>Beyond model training, the project also emphasizes:</a:t>
            </a:r>
          </a:p>
          <a:p>
            <a:pPr marL="342900" lvl="0" indent="-342900" algn="l">
              <a:spcAft>
                <a:spcPts val="1200"/>
              </a:spcAft>
              <a:buFont typeface="Arial" panose="020B0604020202020204" pitchFamily="34" charset="0"/>
              <a:buChar char="•"/>
            </a:pPr>
            <a:r>
              <a:rPr lang="en-IN" sz="1800" b="0" i="0" dirty="0">
                <a:solidFill>
                  <a:schemeClr val="tx1"/>
                </a:solidFill>
                <a:effectLst/>
                <a:latin typeface="+mn-lt"/>
              </a:rPr>
              <a:t>interpretable machine learning</a:t>
            </a:r>
          </a:p>
          <a:p>
            <a:pPr marL="342900" lvl="0" indent="-342900" algn="l">
              <a:spcAft>
                <a:spcPts val="1200"/>
              </a:spcAft>
              <a:buFont typeface="Arial" panose="020B0604020202020204" pitchFamily="34" charset="0"/>
              <a:buChar char="•"/>
            </a:pPr>
            <a:r>
              <a:rPr lang="en-IN" sz="1800" b="0" i="0" dirty="0">
                <a:solidFill>
                  <a:schemeClr val="tx1"/>
                </a:solidFill>
                <a:effectLst/>
                <a:latin typeface="+mn-lt"/>
              </a:rPr>
              <a:t>evaluation trade-off analysis</a:t>
            </a:r>
          </a:p>
          <a:p>
            <a:pPr marL="342900" lvl="0" indent="-342900" algn="l">
              <a:spcAft>
                <a:spcPts val="1200"/>
              </a:spcAft>
              <a:buFont typeface="Arial" panose="020B0604020202020204" pitchFamily="34" charset="0"/>
              <a:buChar char="•"/>
            </a:pPr>
            <a:r>
              <a:rPr lang="en-IN" sz="1800" b="0" i="0" dirty="0">
                <a:solidFill>
                  <a:schemeClr val="tx1"/>
                </a:solidFill>
                <a:effectLst/>
                <a:latin typeface="+mn-lt"/>
              </a:rPr>
              <a:t>practical NLP preprocessing</a:t>
            </a:r>
          </a:p>
          <a:p>
            <a:pPr marL="342900" lvl="0" indent="-342900" algn="l">
              <a:spcAft>
                <a:spcPts val="1200"/>
              </a:spcAft>
              <a:buFont typeface="Arial" panose="020B0604020202020204" pitchFamily="34" charset="0"/>
              <a:buChar char="•"/>
            </a:pPr>
            <a:r>
              <a:rPr lang="en-IN" sz="1800" b="0" i="0" dirty="0">
                <a:solidFill>
                  <a:schemeClr val="tx1"/>
                </a:solidFill>
                <a:effectLst/>
                <a:latin typeface="+mn-lt"/>
              </a:rPr>
              <a:t>model comparison workflows</a:t>
            </a:r>
          </a:p>
          <a:p>
            <a:pPr marL="342900" lvl="0" indent="-342900" algn="l">
              <a:spcAft>
                <a:spcPts val="1200"/>
              </a:spcAft>
              <a:buFont typeface="Arial" panose="020B0604020202020204" pitchFamily="34" charset="0"/>
              <a:buChar char="•"/>
            </a:pPr>
            <a:r>
              <a:rPr lang="en-IN" sz="1800" b="0" i="0" dirty="0">
                <a:solidFill>
                  <a:schemeClr val="tx1"/>
                </a:solidFill>
                <a:effectLst/>
                <a:latin typeface="+mn-lt"/>
              </a:rPr>
              <a:t>business-oriented problem framing</a:t>
            </a:r>
          </a:p>
          <a:p>
            <a:pPr marL="0" marR="0" indent="0" algn="l">
              <a:spcAft>
                <a:spcPts val="1200"/>
              </a:spcAft>
              <a:buNone/>
            </a:pPr>
            <a:r>
              <a:rPr lang="en-IN" sz="1800" b="0" i="0" dirty="0">
                <a:solidFill>
                  <a:schemeClr val="tx1"/>
                </a:solidFill>
                <a:effectLst/>
                <a:latin typeface="+mn-lt"/>
              </a:rPr>
              <a:t>Although transformer-based models would likely achieve higher performance, this project highlights the value of lightweight and explainable NLP pipelines that remain computationally efficient and easy to deploy.</a:t>
            </a:r>
            <a:endParaRPr lang="en-IN" sz="1200" b="0" i="0" dirty="0">
              <a:solidFill>
                <a:srgbClr val="F0F6FC"/>
              </a:solidFill>
              <a:effectLst/>
              <a:latin typeface="Mona Sans VF"/>
            </a:endParaRPr>
          </a:p>
        </p:txBody>
      </p:sp>
    </p:spTree>
    <p:extLst>
      <p:ext uri="{BB962C8B-B14F-4D97-AF65-F5344CB8AC3E}">
        <p14:creationId xmlns:p14="http://schemas.microsoft.com/office/powerpoint/2010/main" val="396999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dirty="0"/>
          </a:p>
        </p:txBody>
      </p:sp>
      <p:sp>
        <p:nvSpPr>
          <p:cNvPr id="5" name="Title 4">
            <a:extLst>
              <a:ext uri="{FF2B5EF4-FFF2-40B4-BE49-F238E27FC236}">
                <a16:creationId xmlns:a16="http://schemas.microsoft.com/office/drawing/2014/main" id="{AA6A38F7-A9D7-5C0D-E22B-DBB3B8082128}"/>
              </a:ext>
            </a:extLst>
          </p:cNvPr>
          <p:cNvSpPr>
            <a:spLocks noGrp="1"/>
          </p:cNvSpPr>
          <p:nvPr>
            <p:ph type="title"/>
          </p:nvPr>
        </p:nvSpPr>
        <p:spPr>
          <a:xfrm>
            <a:off x="1056788" y="116239"/>
            <a:ext cx="9875463" cy="999746"/>
          </a:xfrm>
        </p:spPr>
        <p:txBody>
          <a:bodyPr/>
          <a:lstStyle/>
          <a:p>
            <a:r>
              <a:rPr lang="en-US" dirty="0"/>
              <a:t>Visualization Graphs</a:t>
            </a:r>
            <a:endParaRPr lang="en-IN" dirty="0"/>
          </a:p>
        </p:txBody>
      </p:sp>
      <p:pic>
        <p:nvPicPr>
          <p:cNvPr id="11" name="Picture 10">
            <a:extLst>
              <a:ext uri="{FF2B5EF4-FFF2-40B4-BE49-F238E27FC236}">
                <a16:creationId xmlns:a16="http://schemas.microsoft.com/office/drawing/2014/main" id="{FF7C42D8-8BB8-1B07-0020-13DC5308C5CD}"/>
              </a:ext>
            </a:extLst>
          </p:cNvPr>
          <p:cNvPicPr>
            <a:picLocks noChangeAspect="1"/>
          </p:cNvPicPr>
          <p:nvPr/>
        </p:nvPicPr>
        <p:blipFill>
          <a:blip r:embed="rId3"/>
          <a:stretch>
            <a:fillRect/>
          </a:stretch>
        </p:blipFill>
        <p:spPr>
          <a:xfrm>
            <a:off x="1056788" y="1242234"/>
            <a:ext cx="4072358" cy="2756154"/>
          </a:xfrm>
          <a:prstGeom prst="rect">
            <a:avLst/>
          </a:prstGeom>
        </p:spPr>
      </p:pic>
      <p:pic>
        <p:nvPicPr>
          <p:cNvPr id="15" name="Picture 14">
            <a:extLst>
              <a:ext uri="{FF2B5EF4-FFF2-40B4-BE49-F238E27FC236}">
                <a16:creationId xmlns:a16="http://schemas.microsoft.com/office/drawing/2014/main" id="{81DDF9B5-0B7F-F01F-E37F-31AA1B4C36B3}"/>
              </a:ext>
            </a:extLst>
          </p:cNvPr>
          <p:cNvPicPr>
            <a:picLocks noChangeAspect="1"/>
          </p:cNvPicPr>
          <p:nvPr/>
        </p:nvPicPr>
        <p:blipFill>
          <a:blip r:embed="rId4"/>
          <a:stretch>
            <a:fillRect/>
          </a:stretch>
        </p:blipFill>
        <p:spPr>
          <a:xfrm>
            <a:off x="6366118" y="1242234"/>
            <a:ext cx="3663490" cy="2756154"/>
          </a:xfrm>
          <a:prstGeom prst="rect">
            <a:avLst/>
          </a:prstGeom>
        </p:spPr>
      </p:pic>
      <p:pic>
        <p:nvPicPr>
          <p:cNvPr id="17" name="Picture 16">
            <a:extLst>
              <a:ext uri="{FF2B5EF4-FFF2-40B4-BE49-F238E27FC236}">
                <a16:creationId xmlns:a16="http://schemas.microsoft.com/office/drawing/2014/main" id="{72235B7B-6F51-41C1-3DFF-3486DA39AA20}"/>
              </a:ext>
            </a:extLst>
          </p:cNvPr>
          <p:cNvPicPr>
            <a:picLocks noChangeAspect="1"/>
          </p:cNvPicPr>
          <p:nvPr/>
        </p:nvPicPr>
        <p:blipFill>
          <a:blip r:embed="rId5"/>
          <a:stretch>
            <a:fillRect/>
          </a:stretch>
        </p:blipFill>
        <p:spPr>
          <a:xfrm>
            <a:off x="1056789" y="4124637"/>
            <a:ext cx="3323188" cy="2587969"/>
          </a:xfrm>
          <a:prstGeom prst="rect">
            <a:avLst/>
          </a:prstGeom>
        </p:spPr>
      </p:pic>
      <p:pic>
        <p:nvPicPr>
          <p:cNvPr id="19" name="Picture 18">
            <a:extLst>
              <a:ext uri="{FF2B5EF4-FFF2-40B4-BE49-F238E27FC236}">
                <a16:creationId xmlns:a16="http://schemas.microsoft.com/office/drawing/2014/main" id="{6AFAF8FB-BC5D-C919-2982-53BB5BC91ACE}"/>
              </a:ext>
            </a:extLst>
          </p:cNvPr>
          <p:cNvPicPr>
            <a:picLocks noChangeAspect="1"/>
          </p:cNvPicPr>
          <p:nvPr/>
        </p:nvPicPr>
        <p:blipFill>
          <a:blip r:embed="rId6"/>
          <a:stretch>
            <a:fillRect/>
          </a:stretch>
        </p:blipFill>
        <p:spPr>
          <a:xfrm>
            <a:off x="4827073" y="4124637"/>
            <a:ext cx="6105178" cy="2602041"/>
          </a:xfrm>
          <a:prstGeom prst="rect">
            <a:avLst/>
          </a:prstGeom>
        </p:spPr>
      </p:pic>
    </p:spTree>
    <p:extLst>
      <p:ext uri="{BB962C8B-B14F-4D97-AF65-F5344CB8AC3E}">
        <p14:creationId xmlns:p14="http://schemas.microsoft.com/office/powerpoint/2010/main" val="249802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484632" y="250274"/>
            <a:ext cx="10511627" cy="1356827"/>
          </a:xfrm>
        </p:spPr>
        <p:txBody>
          <a:bodyPr/>
          <a:lstStyle/>
          <a:p>
            <a:r>
              <a:rPr lang="en-US" dirty="0"/>
              <a:t>Final Disaster or Non-Disaster Tweet</a:t>
            </a: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pic>
        <p:nvPicPr>
          <p:cNvPr id="8" name="Picture 7">
            <a:extLst>
              <a:ext uri="{FF2B5EF4-FFF2-40B4-BE49-F238E27FC236}">
                <a16:creationId xmlns:a16="http://schemas.microsoft.com/office/drawing/2014/main" id="{89E76B00-4ECE-60A5-CFE8-58E910FCCBA6}"/>
              </a:ext>
            </a:extLst>
          </p:cNvPr>
          <p:cNvPicPr>
            <a:picLocks noChangeAspect="1"/>
          </p:cNvPicPr>
          <p:nvPr/>
        </p:nvPicPr>
        <p:blipFill>
          <a:blip r:embed="rId3"/>
          <a:stretch>
            <a:fillRect/>
          </a:stretch>
        </p:blipFill>
        <p:spPr>
          <a:xfrm>
            <a:off x="518160" y="1960169"/>
            <a:ext cx="5390611" cy="4522927"/>
          </a:xfrm>
          <a:prstGeom prst="rect">
            <a:avLst/>
          </a:prstGeom>
        </p:spPr>
      </p:pic>
      <p:pic>
        <p:nvPicPr>
          <p:cNvPr id="9" name="Content Placeholder 4">
            <a:extLst>
              <a:ext uri="{FF2B5EF4-FFF2-40B4-BE49-F238E27FC236}">
                <a16:creationId xmlns:a16="http://schemas.microsoft.com/office/drawing/2014/main" id="{9D3C5A66-B0E8-F8DB-42B8-8F8FC48AF0FA}"/>
              </a:ext>
            </a:extLst>
          </p:cNvPr>
          <p:cNvPicPr>
            <a:picLocks noChangeAspect="1"/>
          </p:cNvPicPr>
          <p:nvPr/>
        </p:nvPicPr>
        <p:blipFill>
          <a:blip r:embed="rId4"/>
          <a:stretch>
            <a:fillRect/>
          </a:stretch>
        </p:blipFill>
        <p:spPr>
          <a:xfrm>
            <a:off x="6096001" y="1957844"/>
            <a:ext cx="5414488" cy="4522927"/>
          </a:xfrm>
          <a:prstGeom prst="rect">
            <a:avLst/>
          </a:prstGeom>
        </p:spPr>
      </p:pic>
    </p:spTree>
    <p:extLst>
      <p:ext uri="{BB962C8B-B14F-4D97-AF65-F5344CB8AC3E}">
        <p14:creationId xmlns:p14="http://schemas.microsoft.com/office/powerpoint/2010/main" val="1686213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2130553" y="447446"/>
            <a:ext cx="5715000" cy="2727709"/>
          </a:xfrm>
        </p:spPr>
        <p:txBody>
          <a:bodyPr/>
          <a:lstStyle/>
          <a:p>
            <a:r>
              <a:rPr lang="en-US" sz="4800" dirty="0"/>
              <a:t>Thank </a:t>
            </a:r>
            <a:br>
              <a:rPr lang="en-US" sz="4800" dirty="0"/>
            </a:br>
            <a:r>
              <a:rPr lang="en-US" sz="4800" dirty="0"/>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{8D74124D-9997-47A8-B498-F7B3F53B3C08}TF8a9b5915-b8c7-461e-8cdd-693d48b5e32371f7b7e2_win32-4bf0b9a2ea37</Template>
  <TotalTime>41</TotalTime>
  <Words>563</Words>
  <Application>Microsoft Office PowerPoint</Application>
  <PresentationFormat>Widescreen</PresentationFormat>
  <Paragraphs>108</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Black</vt:lpstr>
      <vt:lpstr>Calibri</vt:lpstr>
      <vt:lpstr>Mona Sans VF</vt:lpstr>
      <vt:lpstr>Sabon Next LT</vt:lpstr>
      <vt:lpstr>Wingdings</vt:lpstr>
      <vt:lpstr>Custom</vt:lpstr>
      <vt:lpstr>Disaster Tweet Classification using Classical NLP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Visualization Graphs</vt:lpstr>
      <vt:lpstr>Final Disaster or Non-Disaster Tweet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Sukanya Naik</dc:creator>
  <cp:lastModifiedBy>Sukanya Naik</cp:lastModifiedBy>
  <cp:revision>5</cp:revision>
  <dcterms:created xsi:type="dcterms:W3CDTF">2026-10-16T18:01:26Z</dcterms:created>
  <dcterms:modified xsi:type="dcterms:W3CDTF">2026-10-16T18:43:00Z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